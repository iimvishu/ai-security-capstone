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7818120" y="-777240"/>
            <a:ext cx="5394960" cy="5394960"/>
          </a:xfrm>
          <a:prstGeom prst="arc">
            <a:avLst/>
          </a:prstGeom>
          <a:solidFill>
            <a:srgbClr val="1A5AA9"/>
          </a:solidFill>
          <a:ln>
            <a:solidFill>
              <a:srgbClr val="1A5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8595360" y="0"/>
            <a:ext cx="3657600" cy="3657600"/>
          </a:xfrm>
          <a:prstGeom prst="arc">
            <a:avLst/>
          </a:prstGeom>
          <a:solidFill>
            <a:srgbClr val="23B7CA"/>
          </a:solidFill>
          <a:ln>
            <a:solidFill>
              <a:srgbClr val="23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40080"/>
            <a:ext cx="2011680" cy="347472"/>
          </a:xfrm>
          <a:prstGeom prst="roundRect">
            <a:avLst/>
          </a:prstGeom>
          <a:solidFill>
            <a:srgbClr val="23B7CA"/>
          </a:solidFill>
          <a:ln>
            <a:solidFill>
              <a:srgbClr val="23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04088"/>
            <a:ext cx="1691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B1B32"/>
                </a:solidFill>
                <a:latin typeface="Aptos"/>
              </a:rPr>
              <a:t>INTERVIEW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65836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"/>
              </a:rPr>
              <a:t>AI Security</a:t>
            </a:r>
            <a:br/>
            <a:r>
              <a:t>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FE0F1"/>
                </a:solidFill>
                <a:latin typeface="Aptos"/>
              </a:rPr>
              <a:t>A local, evidence-driven journey from LLM risk assessment</a:t>
            </a:r>
            <a:br/>
            <a:r>
              <a:t>to secure engineering and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572000"/>
            <a:ext cx="5349240" cy="868680"/>
          </a:xfrm>
          <a:prstGeom prst="roundRect">
            <a:avLst/>
          </a:prstGeom>
          <a:solidFill>
            <a:srgbClr val="153151"/>
          </a:solidFill>
          <a:ln>
            <a:solidFill>
              <a:srgbClr val="153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873752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OWASP LLM  •  MITRE ATLAS  •  MCP  •  DevSecOps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9963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5C2DC"/>
                </a:solidFill>
                <a:latin typeface="Aptos"/>
              </a:rPr>
              <a:t>Prepared for interview 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B7CA"/>
          </a:solidFill>
          <a:ln>
            <a:solidFill>
              <a:srgbClr val="23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3891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1B32"/>
                </a:solidFill>
                <a:latin typeface="Aptos"/>
              </a:rPr>
              <a:t>The story of the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332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C7F"/>
                </a:solidFill>
                <a:latin typeface="Aptos"/>
              </a:rPr>
              <a:t>A practical security lifecycle for an LLM-enabled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2468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B6C7F"/>
                </a:solidFill>
                <a:latin typeface="Aptos"/>
              </a:rPr>
              <a:t>AI SECURITY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09944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A5AA9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291840" cy="1444752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502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B7CA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19072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B32"/>
                </a:solidFill>
                <a:latin typeface="Aptos"/>
              </a:rPr>
              <a:t>Assess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67128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C7F"/>
                </a:solidFill>
                <a:latin typeface="Aptos"/>
              </a:rPr>
              <a:t>OWASP LLM risk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08760"/>
            <a:ext cx="3291840" cy="1444752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37360"/>
            <a:ext cx="502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B7CA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719072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B32"/>
                </a:solidFill>
                <a:latin typeface="Aptos"/>
              </a:rPr>
              <a:t>Defend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167128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C7F"/>
                </a:solidFill>
                <a:latin typeface="Aptos"/>
              </a:rPr>
              <a:t>Input and output controls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508760"/>
            <a:ext cx="3291840" cy="1444752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37360"/>
            <a:ext cx="502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B7CA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719072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B32"/>
                </a:solidFill>
                <a:latin typeface="Aptos"/>
              </a:rPr>
              <a:t>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167128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C7F"/>
                </a:solidFill>
                <a:latin typeface="Aptos"/>
              </a:rPr>
              <a:t>Red team and ATLAS mapping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47288"/>
            <a:ext cx="3291840" cy="1444752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675887"/>
            <a:ext cx="502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B7CA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657600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B32"/>
                </a:solidFill>
                <a:latin typeface="Aptos"/>
              </a:rPr>
              <a:t>Extend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105656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C7F"/>
                </a:solidFill>
                <a:latin typeface="Aptos"/>
              </a:rPr>
              <a:t>MCP tools and resources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447288"/>
            <a:ext cx="3291840" cy="1444752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675887"/>
            <a:ext cx="502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B7CA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3657600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B32"/>
                </a:solidFill>
                <a:latin typeface="Aptos"/>
              </a:rPr>
              <a:t>Automate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4105656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C7F"/>
                </a:solidFill>
                <a:latin typeface="Aptos"/>
              </a:rPr>
              <a:t>CI security gates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3447288"/>
            <a:ext cx="3291840" cy="1444752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675887"/>
            <a:ext cx="502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B7CA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657600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B32"/>
                </a:solidFill>
                <a:latin typeface="Aptos"/>
              </a:rPr>
              <a:t>Validate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4105656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C7F"/>
                </a:solidFill>
                <a:latin typeface="Aptos"/>
              </a:rPr>
              <a:t>Scoped pen-test methodology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B7CA"/>
          </a:solidFill>
          <a:ln>
            <a:solidFill>
              <a:srgbClr val="23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3891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1B32"/>
                </a:solidFill>
                <a:latin typeface="Aptos"/>
              </a:rPr>
              <a:t>Security model: trust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332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C7F"/>
                </a:solidFill>
                <a:latin typeface="Aptos"/>
              </a:rPr>
              <a:t>The model is one component—not the enforcement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2468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B6C7F"/>
                </a:solidFill>
                <a:latin typeface="Aptos"/>
              </a:rPr>
              <a:t>AI SECURITY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09944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A5AA9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1874519" cy="1828800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25880" y="1810512"/>
            <a:ext cx="530352" cy="530352"/>
          </a:xfrm>
          <a:prstGeom prst="ellipse">
            <a:avLst/>
          </a:prstGeom>
          <a:solidFill>
            <a:srgbClr val="FFA54B"/>
          </a:solidFill>
          <a:ln>
            <a:solidFill>
              <a:srgbClr val="FFA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0472" y="1911095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542032"/>
            <a:ext cx="1572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B1B32"/>
                </a:solidFill>
                <a:latin typeface="Aptos"/>
              </a:rPr>
              <a:t>User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880360"/>
            <a:ext cx="1600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B6C7F"/>
                </a:solidFill>
                <a:latin typeface="Aptos"/>
              </a:rPr>
              <a:t>May contain prompt injection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1600200"/>
            <a:ext cx="1874519" cy="1828800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93592" y="1810512"/>
            <a:ext cx="530352" cy="530352"/>
          </a:xfrm>
          <a:prstGeom prst="ellipse">
            <a:avLst/>
          </a:prstGeom>
          <a:solidFill>
            <a:srgbClr val="FFA54B"/>
          </a:solidFill>
          <a:ln>
            <a:solidFill>
              <a:srgbClr val="FFA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58184" y="1911095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2384" y="2542032"/>
            <a:ext cx="1572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B1B32"/>
                </a:solidFill>
                <a:latin typeface="Aptos"/>
              </a:rPr>
              <a:t>Retrieved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880360"/>
            <a:ext cx="1600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B6C7F"/>
                </a:solidFill>
                <a:latin typeface="Aptos"/>
              </a:rPr>
              <a:t>May be poisoned or untrusted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93792" y="1600200"/>
            <a:ext cx="1874519" cy="1828800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61304" y="1810512"/>
            <a:ext cx="530352" cy="530352"/>
          </a:xfrm>
          <a:prstGeom prst="ellipse">
            <a:avLst/>
          </a:prstGeom>
          <a:solidFill>
            <a:srgbClr val="FFA54B"/>
          </a:solidFill>
          <a:ln>
            <a:solidFill>
              <a:srgbClr val="FFA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25896" y="1911095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2542032"/>
            <a:ext cx="1572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B1B32"/>
                </a:solidFill>
                <a:latin typeface="Aptos"/>
              </a:rPr>
              <a:t>Model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0952" y="2880360"/>
            <a:ext cx="1600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B6C7F"/>
                </a:solidFill>
                <a:latin typeface="Aptos"/>
              </a:rPr>
              <a:t>May be inaccurate or unsafe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61504" y="1600200"/>
            <a:ext cx="1874519" cy="1828800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29016" y="1810512"/>
            <a:ext cx="530352" cy="530352"/>
          </a:xfrm>
          <a:prstGeom prst="ellipse">
            <a:avLst/>
          </a:prstGeom>
          <a:solidFill>
            <a:srgbClr val="FFA54B"/>
          </a:solidFill>
          <a:ln>
            <a:solidFill>
              <a:srgbClr val="FFA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8" y="1911095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2542032"/>
            <a:ext cx="1572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B1B32"/>
                </a:solidFill>
                <a:latin typeface="Aptos"/>
              </a:rPr>
              <a:t>Tool arguments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8664" y="2880360"/>
            <a:ext cx="1600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B6C7F"/>
                </a:solidFill>
                <a:latin typeface="Aptos"/>
              </a:rPr>
              <a:t>May trigger real actions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29216" y="1600200"/>
            <a:ext cx="1874519" cy="1828800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96728" y="1810512"/>
            <a:ext cx="530352" cy="530352"/>
          </a:xfrm>
          <a:prstGeom prst="ellipse">
            <a:avLst/>
          </a:prstGeom>
          <a:solidFill>
            <a:srgbClr val="FFA54B"/>
          </a:solidFill>
          <a:ln>
            <a:solidFill>
              <a:srgbClr val="FFA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61320" y="1911095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2542032"/>
            <a:ext cx="1572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B1B32"/>
                </a:solidFill>
                <a:latin typeface="Aptos"/>
              </a:rPr>
              <a:t>Dependencies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66376" y="2880360"/>
            <a:ext cx="1600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B6C7F"/>
                </a:solidFill>
                <a:latin typeface="Aptos"/>
              </a:rPr>
              <a:t>May introduce supply-chain risk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34440" y="4160520"/>
            <a:ext cx="9692640" cy="868680"/>
          </a:xfrm>
          <a:prstGeom prst="roundRect">
            <a:avLst/>
          </a:prstGeom>
          <a:solidFill>
            <a:srgbClr val="0B1B32"/>
          </a:solidFill>
          <a:ln>
            <a:solidFill>
              <a:srgbClr val="0B1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81328" y="4471416"/>
            <a:ext cx="9235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Validate at the boundary  •  Enforce least privilege  •  Log important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B7CA"/>
          </a:solidFill>
          <a:ln>
            <a:solidFill>
              <a:srgbClr val="23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3891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1B32"/>
                </a:solidFill>
                <a:latin typeface="Aptos"/>
              </a:rPr>
              <a:t>Project 1 | OWASP LLM risk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332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C7F"/>
                </a:solidFill>
                <a:latin typeface="Aptos"/>
              </a:rPr>
              <a:t>Project summary, implementation, evidence, and interview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2468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B6C7F"/>
                </a:solidFill>
                <a:latin typeface="Aptos"/>
              </a:rPr>
              <a:t>AI SECURITY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09944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A5AA9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611880" cy="1828800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1828800"/>
          </a:xfrm>
          <a:prstGeom prst="rect">
            <a:avLst/>
          </a:prstGeom>
          <a:solidFill>
            <a:srgbClr val="1A5AA9"/>
          </a:solidFill>
          <a:ln>
            <a:solidFill>
              <a:srgbClr val="1A5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36776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B32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75688"/>
            <a:ext cx="3154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C7F"/>
                </a:solidFill>
                <a:latin typeface="Aptos"/>
              </a:rPr>
              <a:t>Assess an intentionally vulnerable Flask chat application against common LLM risks.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417320"/>
            <a:ext cx="3474720" cy="1828800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417320"/>
            <a:ext cx="73152" cy="1828800"/>
          </a:xfrm>
          <a:prstGeom prst="rect">
            <a:avLst/>
          </a:prstGeom>
          <a:solidFill>
            <a:srgbClr val="1A5AA9"/>
          </a:solidFill>
          <a:ln>
            <a:solidFill>
              <a:srgbClr val="1A5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636776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B32"/>
                </a:solidFill>
                <a:latin typeface="Aptos"/>
              </a:rPr>
              <a:t>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075688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C7F"/>
                </a:solidFill>
                <a:latin typeface="Aptos"/>
              </a:rPr>
              <a:t>Flask on 127.0.0.1:5000 calls local Ollama. 16 KiB request cap and an in-memory 5 requests / 60 seconds rate limit.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474720" cy="1828800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73152" cy="1828800"/>
          </a:xfrm>
          <a:prstGeom prst="rect">
            <a:avLst/>
          </a:prstGeom>
          <a:solidFill>
            <a:srgbClr val="1A5AA9"/>
          </a:solidFill>
          <a:ln>
            <a:solidFill>
              <a:srgbClr val="1A5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636776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B32"/>
                </a:solidFill>
                <a:latin typeface="Aptos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075688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C7F"/>
                </a:solidFill>
                <a:latin typeface="Aptos"/>
              </a:rPr>
              <a:t>OWASP assessment, local lab data, and source review.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03320"/>
            <a:ext cx="10881360" cy="1417320"/>
          </a:xfrm>
          <a:prstGeom prst="roundRect">
            <a:avLst/>
          </a:prstGeom>
          <a:solidFill>
            <a:srgbClr val="E4F0FC"/>
          </a:solidFill>
          <a:ln>
            <a:solidFill>
              <a:srgbClr val="E4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0507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A5AA9"/>
                </a:solidFill>
                <a:latin typeface="Aptos"/>
              </a:rPr>
              <a:t>INTERVIEW 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15968"/>
            <a:ext cx="1005840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B32"/>
                </a:solidFill>
                <a:latin typeface="Aptos"/>
              </a:rPr>
              <a:t>A system prompt and basic rate limits are useful—but production security also requires access control, output validation, monitoring, and human approval.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B7CA"/>
          </a:solidFill>
          <a:ln>
            <a:solidFill>
              <a:srgbClr val="23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3891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1B32"/>
                </a:solidFill>
                <a:latin typeface="Aptos"/>
              </a:rPr>
              <a:t>Project 2 | Prompt-injection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332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C7F"/>
                </a:solidFill>
                <a:latin typeface="Aptos"/>
              </a:rPr>
              <a:t>Project summary, implementation, evidence, and interview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2468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B6C7F"/>
                </a:solidFill>
                <a:latin typeface="Aptos"/>
              </a:rPr>
              <a:t>AI SECURITY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09944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A5AA9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611880" cy="1828800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1828800"/>
          </a:xfrm>
          <a:prstGeom prst="rect">
            <a:avLst/>
          </a:prstGeom>
          <a:solidFill>
            <a:srgbClr val="48C9B0"/>
          </a:solidFill>
          <a:ln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36776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B32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75688"/>
            <a:ext cx="3154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C7F"/>
                </a:solidFill>
                <a:latin typeface="Aptos"/>
              </a:rPr>
              <a:t>Add practical guardrails around the LLM endpoint.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417320"/>
            <a:ext cx="3474720" cy="1828800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417320"/>
            <a:ext cx="73152" cy="1828800"/>
          </a:xfrm>
          <a:prstGeom prst="rect">
            <a:avLst/>
          </a:prstGeom>
          <a:solidFill>
            <a:srgbClr val="48C9B0"/>
          </a:solidFill>
          <a:ln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636776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B32"/>
                </a:solidFill>
                <a:latin typeface="Aptos"/>
              </a:rPr>
              <a:t>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075688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C7F"/>
                </a:solidFill>
                <a:latin typeface="Aptos"/>
              </a:rPr>
              <a:t>POST /ask on 127.0.0.1:5001. 500-character limit, injection/Base64 regex checks, and output scanning for secrets and URLs.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474720" cy="1828800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73152" cy="1828800"/>
          </a:xfrm>
          <a:prstGeom prst="rect">
            <a:avLst/>
          </a:prstGeom>
          <a:solidFill>
            <a:srgbClr val="48C9B0"/>
          </a:solidFill>
          <a:ln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636776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B32"/>
                </a:solidFill>
                <a:latin typeface="Aptos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075688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C7F"/>
                </a:solidFill>
                <a:latin typeface="Aptos"/>
              </a:rPr>
              <a:t>Source code in app.py and validate.py; documented tested payloads.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03320"/>
            <a:ext cx="10881360" cy="1417320"/>
          </a:xfrm>
          <a:prstGeom prst="roundRect">
            <a:avLst/>
          </a:prstGeom>
          <a:solidFill>
            <a:srgbClr val="E4F0FC"/>
          </a:solidFill>
          <a:ln>
            <a:solidFill>
              <a:srgbClr val="E4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0507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A5AA9"/>
                </a:solidFill>
                <a:latin typeface="Aptos"/>
              </a:rPr>
              <a:t>INTERVIEW 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15968"/>
            <a:ext cx="1005840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B32"/>
                </a:solidFill>
                <a:latin typeface="Aptos"/>
              </a:rPr>
              <a:t>Regex is a fast first layer, not a complete solution. Explain its bypass and false-positive tradeoffs, then describe defense in depth.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B7CA"/>
          </a:solidFill>
          <a:ln>
            <a:solidFill>
              <a:srgbClr val="23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3891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1B32"/>
                </a:solidFill>
                <a:latin typeface="Aptos"/>
              </a:rPr>
              <a:t>Project 3 | Red team + MITRE 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332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C7F"/>
                </a:solidFill>
                <a:latin typeface="Aptos"/>
              </a:rPr>
              <a:t>Project summary, implementation, evidence, and interview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2468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B6C7F"/>
                </a:solidFill>
                <a:latin typeface="Aptos"/>
              </a:rPr>
              <a:t>AI SECURITY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09944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A5AA9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611880" cy="1828800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1828800"/>
          </a:xfrm>
          <a:prstGeom prst="rect">
            <a:avLst/>
          </a:prstGeom>
          <a:solidFill>
            <a:srgbClr val="23B7CA"/>
          </a:solidFill>
          <a:ln>
            <a:solidFill>
              <a:srgbClr val="23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36776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B32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75688"/>
            <a:ext cx="3154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C7F"/>
                </a:solidFill>
                <a:latin typeface="Aptos"/>
              </a:rPr>
              <a:t>Run authorized adversarial prompts and map behavior to an AI-security framework.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417320"/>
            <a:ext cx="3474720" cy="1828800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417320"/>
            <a:ext cx="73152" cy="1828800"/>
          </a:xfrm>
          <a:prstGeom prst="rect">
            <a:avLst/>
          </a:prstGeom>
          <a:solidFill>
            <a:srgbClr val="23B7CA"/>
          </a:solidFill>
          <a:ln>
            <a:solidFill>
              <a:srgbClr val="23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636776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B32"/>
                </a:solidFill>
                <a:latin typeface="Aptos"/>
              </a:rPr>
              <a:t>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075688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C7F"/>
                </a:solidFill>
                <a:latin typeface="Aptos"/>
              </a:rPr>
              <a:t>20 prompts across injection, jailbreak, role-play, and encoded payloads; five ATLAS-aligned defensive tests.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474720" cy="1828800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73152" cy="1828800"/>
          </a:xfrm>
          <a:prstGeom prst="rect">
            <a:avLst/>
          </a:prstGeom>
          <a:solidFill>
            <a:srgbClr val="23B7CA"/>
          </a:solidFill>
          <a:ln>
            <a:solidFill>
              <a:srgbClr val="23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636776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B32"/>
                </a:solidFill>
                <a:latin typeface="Aptos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075688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C7F"/>
                </a:solidFill>
                <a:latin typeface="Aptos"/>
              </a:rPr>
              <a:t>Timestamped JSON results: redteam_results.json and atlas_results.json.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03320"/>
            <a:ext cx="10881360" cy="1417320"/>
          </a:xfrm>
          <a:prstGeom prst="roundRect">
            <a:avLst/>
          </a:prstGeom>
          <a:solidFill>
            <a:srgbClr val="E4F0FC"/>
          </a:solidFill>
          <a:ln>
            <a:solidFill>
              <a:srgbClr val="E4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0507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A5AA9"/>
                </a:solidFill>
                <a:latin typeface="Aptos"/>
              </a:rPr>
              <a:t>INTERVIEW 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15968"/>
            <a:ext cx="1005840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B32"/>
                </a:solidFill>
                <a:latin typeface="Aptos"/>
              </a:rPr>
              <a:t>A model response is evidence to review—not automatic proof of compromise. Define safe success criteria and record reproducible context.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B7CA"/>
          </a:solidFill>
          <a:ln>
            <a:solidFill>
              <a:srgbClr val="23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3891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1B32"/>
                </a:solidFill>
                <a:latin typeface="Aptos"/>
              </a:rPr>
              <a:t>Project 4 | MCP security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332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C7F"/>
                </a:solidFill>
                <a:latin typeface="Aptos"/>
              </a:rPr>
              <a:t>Project summary, implementation, evidence, and interview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2468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B6C7F"/>
                </a:solidFill>
                <a:latin typeface="Aptos"/>
              </a:rPr>
              <a:t>AI SECURITY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09944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A5AA9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611880" cy="1828800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1828800"/>
          </a:xfrm>
          <a:prstGeom prst="rect">
            <a:avLst/>
          </a:prstGeom>
          <a:solidFill>
            <a:srgbClr val="FFA54B"/>
          </a:solidFill>
          <a:ln>
            <a:solidFill>
              <a:srgbClr val="FFA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36776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B32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75688"/>
            <a:ext cx="3154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C7F"/>
                </a:solidFill>
                <a:latin typeface="Aptos"/>
              </a:rPr>
              <a:t>Demonstrate tool injection, resource poisoning, and capability chaining with harmless local fixtures.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417320"/>
            <a:ext cx="3474720" cy="1828800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417320"/>
            <a:ext cx="73152" cy="1828800"/>
          </a:xfrm>
          <a:prstGeom prst="rect">
            <a:avLst/>
          </a:prstGeom>
          <a:solidFill>
            <a:srgbClr val="FFA54B"/>
          </a:solidFill>
          <a:ln>
            <a:solidFill>
              <a:srgbClr val="FFA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636776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B32"/>
                </a:solidFill>
                <a:latin typeface="Aptos"/>
              </a:rPr>
              <a:t>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075688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C7F"/>
                </a:solidFill>
                <a:latin typeface="Aptos"/>
              </a:rPr>
              <a:t>A restricted demo tool, a poisoned resource fixture, and server-side invocation logs. All activity stays local.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474720" cy="1828800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73152" cy="1828800"/>
          </a:xfrm>
          <a:prstGeom prst="rect">
            <a:avLst/>
          </a:prstGeom>
          <a:solidFill>
            <a:srgbClr val="FFA54B"/>
          </a:solidFill>
          <a:ln>
            <a:solidFill>
              <a:srgbClr val="FFA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636776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B32"/>
                </a:solidFill>
                <a:latin typeface="Aptos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075688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C7F"/>
                </a:solidFill>
                <a:latin typeface="Aptos"/>
              </a:rPr>
              <a:t>Attack JSON results plus fixture-server logs provide prompt, tool, resource, and response evidence.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03320"/>
            <a:ext cx="10881360" cy="1417320"/>
          </a:xfrm>
          <a:prstGeom prst="roundRect">
            <a:avLst/>
          </a:prstGeom>
          <a:solidFill>
            <a:srgbClr val="E4F0FC"/>
          </a:solidFill>
          <a:ln>
            <a:solidFill>
              <a:srgbClr val="E4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0507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A5AA9"/>
                </a:solidFill>
                <a:latin typeface="Aptos"/>
              </a:rPr>
              <a:t>INTERVIEW 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15968"/>
            <a:ext cx="1005840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B32"/>
                </a:solidFill>
                <a:latin typeface="Aptos"/>
              </a:rPr>
              <a:t>Never let model text directly authorize consequential actions: confirm intent, validate server-side, scope privileges, and log every tool call.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B7CA"/>
          </a:solidFill>
          <a:ln>
            <a:solidFill>
              <a:srgbClr val="23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3891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1B32"/>
                </a:solidFill>
                <a:latin typeface="Aptos"/>
              </a:rPr>
              <a:t>Project 5 | DevSecOps security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332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C7F"/>
                </a:solidFill>
                <a:latin typeface="Aptos"/>
              </a:rPr>
              <a:t>Project summary, implementation, evidence, and interview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2468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B6C7F"/>
                </a:solidFill>
                <a:latin typeface="Aptos"/>
              </a:rPr>
              <a:t>AI SECURITY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09944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A5AA9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611880" cy="1828800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1828800"/>
          </a:xfrm>
          <a:prstGeom prst="rect">
            <a:avLst/>
          </a:prstGeom>
          <a:solidFill>
            <a:srgbClr val="48C9B0"/>
          </a:solidFill>
          <a:ln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36776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B32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75688"/>
            <a:ext cx="3154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C7F"/>
                </a:solidFill>
                <a:latin typeface="Aptos"/>
              </a:rPr>
              <a:t>Shift security left by running checks automatically on every push and pull request.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417320"/>
            <a:ext cx="3474720" cy="1828800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417320"/>
            <a:ext cx="73152" cy="1828800"/>
          </a:xfrm>
          <a:prstGeom prst="rect">
            <a:avLst/>
          </a:prstGeom>
          <a:solidFill>
            <a:srgbClr val="48C9B0"/>
          </a:solidFill>
          <a:ln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636776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B32"/>
                </a:solidFill>
                <a:latin typeface="Aptos"/>
              </a:rPr>
              <a:t>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075688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C7F"/>
                </a:solidFill>
                <a:latin typeface="Aptos"/>
              </a:rPr>
              <a:t>Sequential GitHub Actions gates: Bandit SAST → Safety dependencies → Gitleaks → custom prompt-injection scanner.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474720" cy="1828800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73152" cy="1828800"/>
          </a:xfrm>
          <a:prstGeom prst="rect">
            <a:avLst/>
          </a:prstGeom>
          <a:solidFill>
            <a:srgbClr val="48C9B0"/>
          </a:solidFill>
          <a:ln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636776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B32"/>
                </a:solidFill>
                <a:latin typeface="Aptos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075688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C7F"/>
                </a:solidFill>
                <a:latin typeface="Aptos"/>
              </a:rPr>
              <a:t>Workflow YAML, local validation script, pipeline design, and controlled fail/fix plan.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03320"/>
            <a:ext cx="10881360" cy="1417320"/>
          </a:xfrm>
          <a:prstGeom prst="roundRect">
            <a:avLst/>
          </a:prstGeom>
          <a:solidFill>
            <a:srgbClr val="E4F0FC"/>
          </a:solidFill>
          <a:ln>
            <a:solidFill>
              <a:srgbClr val="E4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0507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A5AA9"/>
                </a:solidFill>
                <a:latin typeface="Aptos"/>
              </a:rPr>
              <a:t>INTERVIEW 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15968"/>
            <a:ext cx="1005840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B32"/>
                </a:solidFill>
                <a:latin typeface="Aptos"/>
              </a:rPr>
              <a:t>CI gives early feedback and blocks failed gates, but it complements—not replaces—threat modeling, review, and runtime controls.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B7CA"/>
          </a:solidFill>
          <a:ln>
            <a:solidFill>
              <a:srgbClr val="23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3891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1B32"/>
                </a:solidFill>
                <a:latin typeface="Aptos"/>
              </a:rPr>
              <a:t>Project 6 | Pen-test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332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C7F"/>
                </a:solidFill>
                <a:latin typeface="Aptos"/>
              </a:rPr>
              <a:t>Project summary, implementation, evidence, and interview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2468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B6C7F"/>
                </a:solidFill>
                <a:latin typeface="Aptos"/>
              </a:rPr>
              <a:t>AI SECURITY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09944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A5AA9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611880" cy="1828800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1828800"/>
          </a:xfrm>
          <a:prstGeom prst="rect">
            <a:avLst/>
          </a:prstGeom>
          <a:solidFill>
            <a:srgbClr val="1A5AA9"/>
          </a:solidFill>
          <a:ln>
            <a:solidFill>
              <a:srgbClr val="1A5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36776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B32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75688"/>
            <a:ext cx="3154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C7F"/>
                </a:solidFill>
                <a:latin typeface="Aptos"/>
              </a:rPr>
              <a:t>Prepare a scoped, evidence-led assessment of the local AI app and local DVWA.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417320"/>
            <a:ext cx="3474720" cy="1828800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417320"/>
            <a:ext cx="73152" cy="1828800"/>
          </a:xfrm>
          <a:prstGeom prst="rect">
            <a:avLst/>
          </a:prstGeom>
          <a:solidFill>
            <a:srgbClr val="1A5AA9"/>
          </a:solidFill>
          <a:ln>
            <a:solidFill>
              <a:srgbClr val="1A5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636776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B32"/>
                </a:solidFill>
                <a:latin typeface="Aptos"/>
              </a:rPr>
              <a:t>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075688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C7F"/>
                </a:solidFill>
                <a:latin typeface="Aptos"/>
              </a:rPr>
              <a:t>Reconnaissance, source review, ZAP/Burp preparation, findings tracker, and CVSS process.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474720" cy="1828800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73152" cy="1828800"/>
          </a:xfrm>
          <a:prstGeom prst="rect">
            <a:avLst/>
          </a:prstGeom>
          <a:solidFill>
            <a:srgbClr val="1A5AA9"/>
          </a:solidFill>
          <a:ln>
            <a:solidFill>
              <a:srgbClr val="1A5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636776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B32"/>
                </a:solidFill>
                <a:latin typeface="Aptos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075688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C7F"/>
                </a:solidFill>
                <a:latin typeface="Aptos"/>
              </a:rPr>
              <a:t>Raw Nmap/Dirb/Nikto/ZAP artifacts; findings remain unconfirmed until manually reproduced.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03320"/>
            <a:ext cx="10881360" cy="1417320"/>
          </a:xfrm>
          <a:prstGeom prst="roundRect">
            <a:avLst/>
          </a:prstGeom>
          <a:solidFill>
            <a:srgbClr val="E4F0FC"/>
          </a:solidFill>
          <a:ln>
            <a:solidFill>
              <a:srgbClr val="E4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0507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A5AA9"/>
                </a:solidFill>
                <a:latin typeface="Aptos"/>
              </a:rPr>
              <a:t>INTERVIEW 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15968"/>
            <a:ext cx="1005840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B32"/>
                </a:solidFill>
                <a:latin typeface="Aptos"/>
              </a:rPr>
              <a:t>Do not confuse a scanner alert with a vulnerability. Confirm scope, reproduce safely, preserve evidence, then rate impact.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B7CA"/>
          </a:solidFill>
          <a:ln>
            <a:solidFill>
              <a:srgbClr val="23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3891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1B32"/>
                </a:solidFill>
                <a:latin typeface="Aptos"/>
              </a:rPr>
              <a:t>MCP: the interview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332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C7F"/>
                </a:solidFill>
                <a:latin typeface="Aptos"/>
              </a:rPr>
              <a:t>Why tools and resources are a different class of LLM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2468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B6C7F"/>
                </a:solidFill>
                <a:latin typeface="Aptos"/>
              </a:rPr>
              <a:t>AI SECURITY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09944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A5AA9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74720" cy="2057400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2057400"/>
          </a:xfrm>
          <a:prstGeom prst="rect">
            <a:avLst/>
          </a:prstGeom>
          <a:solidFill>
            <a:srgbClr val="FFA54B"/>
          </a:solidFill>
          <a:ln>
            <a:solidFill>
              <a:srgbClr val="FFA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36776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B32"/>
                </a:solidFill>
                <a:latin typeface="Aptos"/>
              </a:rPr>
              <a:t>TOOL INJECTION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75688"/>
            <a:ext cx="301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C7F"/>
                </a:solidFill>
                <a:latin typeface="Aptos"/>
              </a:rPr>
              <a:t>Untrusted text can influence a model to request a restricted tool. The local fixture recorded the tool call and harmless response.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417320"/>
            <a:ext cx="3474720" cy="2057400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1688" y="1417320"/>
            <a:ext cx="73152" cy="2057400"/>
          </a:xfrm>
          <a:prstGeom prst="rect">
            <a:avLst/>
          </a:prstGeom>
          <a:solidFill>
            <a:srgbClr val="FFA54B"/>
          </a:solidFill>
          <a:ln>
            <a:solidFill>
              <a:srgbClr val="FFA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636776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B32"/>
                </a:solidFill>
                <a:latin typeface="Aptos"/>
              </a:rPr>
              <a:t>RESOURCE POISONING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75688"/>
            <a:ext cx="301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C7F"/>
                </a:solidFill>
                <a:latin typeface="Aptos"/>
              </a:rPr>
              <a:t>A resource carried hidden instructions. The model response demonstrated a behavior change in a controlled local test.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417320"/>
            <a:ext cx="3474720" cy="2057400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417320"/>
            <a:ext cx="73152" cy="2057400"/>
          </a:xfrm>
          <a:prstGeom prst="rect">
            <a:avLst/>
          </a:prstGeom>
          <a:solidFill>
            <a:srgbClr val="48C9B0"/>
          </a:solidFill>
          <a:ln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1636776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B32"/>
                </a:solidFill>
                <a:latin typeface="Aptos"/>
              </a:rPr>
              <a:t>CONTROL PATTERN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075688"/>
            <a:ext cx="301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C7F"/>
                </a:solidFill>
                <a:latin typeface="Aptos"/>
              </a:rPr>
              <a:t>User confirmation • allowlisted tools • narrow schemas • server validation • provenance • scoped credentials • audit logs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1B32"/>
                </a:solidFill>
                <a:latin typeface="Aptos"/>
              </a:rPr>
              <a:t>Strong sound bite: “The model can suggest an action; policy-enforcing application code must decide whether the action is allowed.”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B7CA"/>
          </a:solidFill>
          <a:ln>
            <a:solidFill>
              <a:srgbClr val="23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3891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1B32"/>
                </a:solidFill>
                <a:latin typeface="Aptos"/>
              </a:rPr>
              <a:t>Defense in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332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C7F"/>
                </a:solidFill>
                <a:latin typeface="Aptos"/>
              </a:rPr>
              <a:t>Controls should work together across the request-to-action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2468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B6C7F"/>
                </a:solidFill>
                <a:latin typeface="Aptos"/>
              </a:rPr>
              <a:t>AI SECURITY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09944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A5AA9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353312"/>
            <a:ext cx="512064" cy="512064"/>
          </a:xfrm>
          <a:prstGeom prst="roundRect">
            <a:avLst/>
          </a:prstGeom>
          <a:solidFill>
            <a:srgbClr val="1A5AA9"/>
          </a:solidFill>
          <a:ln>
            <a:solidFill>
              <a:srgbClr val="1A5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481328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26464"/>
            <a:ext cx="11887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B32"/>
                </a:solidFill>
                <a:latin typeface="Aptos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435608"/>
            <a:ext cx="713232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7F"/>
                </a:solidFill>
                <a:latin typeface="Aptos"/>
              </a:rPr>
              <a:t>Size limits, injection checks, content classification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2194560"/>
            <a:ext cx="512064" cy="512064"/>
          </a:xfrm>
          <a:prstGeom prst="roundRect">
            <a:avLst/>
          </a:prstGeom>
          <a:solidFill>
            <a:srgbClr val="1A5AA9"/>
          </a:solidFill>
          <a:ln>
            <a:solidFill>
              <a:srgbClr val="1A5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322576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267712"/>
            <a:ext cx="11887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B32"/>
                </a:solidFill>
                <a:latin typeface="Aptos"/>
              </a:rPr>
              <a:t>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276856"/>
            <a:ext cx="713232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7F"/>
                </a:solidFill>
                <a:latin typeface="Aptos"/>
              </a:rPr>
              <a:t>Separate instructions from untrusted retrieved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3035808"/>
            <a:ext cx="512064" cy="512064"/>
          </a:xfrm>
          <a:prstGeom prst="roundRect">
            <a:avLst/>
          </a:prstGeom>
          <a:solidFill>
            <a:srgbClr val="1A5AA9"/>
          </a:solidFill>
          <a:ln>
            <a:solidFill>
              <a:srgbClr val="1A5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163824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108960"/>
            <a:ext cx="11887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B32"/>
                </a:solidFill>
                <a:latin typeface="Aptos"/>
              </a:rP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118104"/>
            <a:ext cx="713232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7F"/>
                </a:solidFill>
                <a:latin typeface="Aptos"/>
              </a:rPr>
              <a:t>Constrain role and request structured results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" y="3877056"/>
            <a:ext cx="512064" cy="512064"/>
          </a:xfrm>
          <a:prstGeom prst="roundRect">
            <a:avLst/>
          </a:prstGeom>
          <a:solidFill>
            <a:srgbClr val="1A5AA9"/>
          </a:solidFill>
          <a:ln>
            <a:solidFill>
              <a:srgbClr val="1A5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005072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950208"/>
            <a:ext cx="11887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B32"/>
                </a:solidFill>
                <a:latin typeface="Aptos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959352"/>
            <a:ext cx="713232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7F"/>
                </a:solidFill>
                <a:latin typeface="Aptos"/>
              </a:rPr>
              <a:t>Scan, encode, validate, and require 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" y="4718304"/>
            <a:ext cx="512064" cy="512064"/>
          </a:xfrm>
          <a:prstGeom prst="roundRect">
            <a:avLst/>
          </a:prstGeom>
          <a:solidFill>
            <a:srgbClr val="1A5AA9"/>
          </a:solidFill>
          <a:ln>
            <a:solidFill>
              <a:srgbClr val="1A5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4846320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791456"/>
            <a:ext cx="11887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B32"/>
                </a:solidFill>
                <a:latin typeface="Aptos"/>
              </a:rPr>
              <a:t>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800600"/>
            <a:ext cx="713232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7F"/>
                </a:solidFill>
                <a:latin typeface="Aptos"/>
              </a:rPr>
              <a:t>Authorize, allowlist, validate arguments, audit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687568"/>
            <a:ext cx="10561320" cy="429768"/>
          </a:xfrm>
          <a:prstGeom prst="roundRect">
            <a:avLst/>
          </a:prstGeom>
          <a:solidFill>
            <a:srgbClr val="E4F0FC"/>
          </a:solidFill>
          <a:ln>
            <a:solidFill>
              <a:srgbClr val="E4F0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97296"/>
            <a:ext cx="10058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A5AA9"/>
                </a:solidFill>
                <a:latin typeface="Aptos"/>
              </a:rPr>
              <a:t>No single control is sufficient: one failed layer should not become an incident.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B7CA"/>
          </a:solidFill>
          <a:ln>
            <a:solidFill>
              <a:srgbClr val="23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3891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1B32"/>
                </a:solidFill>
                <a:latin typeface="Aptos"/>
              </a:rPr>
              <a:t>Evidence and engineering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332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C7F"/>
                </a:solidFill>
                <a:latin typeface="Aptos"/>
              </a:rPr>
              <a:t>How the work stays credible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2468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B6C7F"/>
                </a:solidFill>
                <a:latin typeface="Aptos"/>
              </a:rPr>
              <a:t>AI SECURITY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09944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A5AA9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469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1C2A3A"/>
                </a:solidFill>
                <a:latin typeface="Aptos"/>
              </a:defRPr>
            </a:pPr>
            <a:r>
              <a:t>• Authorized local scope: no external targets, destructive activity, or real credentials.</a:t>
            </a:r>
          </a:p>
          <a:p>
            <a:pPr>
              <a:spcAft>
                <a:spcPts val="1100"/>
              </a:spcAft>
              <a:defRPr sz="1700">
                <a:solidFill>
                  <a:srgbClr val="1C2A3A"/>
                </a:solidFill>
                <a:latin typeface="Aptos"/>
              </a:defRPr>
            </a:pPr>
            <a:r>
              <a:t>• Repeatable records: JSON results, server-side logs, source files, workflow YAML, and reports.</a:t>
            </a:r>
          </a:p>
          <a:p>
            <a:pPr>
              <a:spcAft>
                <a:spcPts val="1100"/>
              </a:spcAft>
              <a:defRPr sz="1700">
                <a:solidFill>
                  <a:srgbClr val="1C2A3A"/>
                </a:solidFill>
                <a:latin typeface="Aptos"/>
              </a:defRPr>
            </a:pPr>
            <a:r>
              <a:t>• Clear labels: distinguish test observations, scanner alerts, and manually confirmed findings.</a:t>
            </a:r>
          </a:p>
          <a:p>
            <a:pPr>
              <a:spcAft>
                <a:spcPts val="1100"/>
              </a:spcAft>
              <a:defRPr sz="1700">
                <a:solidFill>
                  <a:srgbClr val="1C2A3A"/>
                </a:solidFill>
                <a:latin typeface="Aptos"/>
              </a:defRPr>
            </a:pPr>
            <a:r>
              <a:t>• Honest limitations: model behavior varies; simple regex defenses and local fixtures do not prove production security.</a:t>
            </a:r>
          </a:p>
          <a:p>
            <a:pPr>
              <a:spcAft>
                <a:spcPts val="1100"/>
              </a:spcAft>
              <a:defRPr sz="1700">
                <a:solidFill>
                  <a:srgbClr val="1C2A3A"/>
                </a:solidFill>
                <a:latin typeface="Aptos"/>
              </a:defRPr>
            </a:pPr>
            <a:r>
              <a:t>• Actionable output: every observed risk is linked to a control—least privilege, validation, provenance, logging, or human review.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3B7CA"/>
          </a:solidFill>
          <a:ln>
            <a:solidFill>
              <a:srgbClr val="23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438912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B1B32"/>
                </a:solidFill>
                <a:latin typeface="Aptos"/>
              </a:rPr>
              <a:t>Questions I am ready to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10332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C7F"/>
                </a:solidFill>
                <a:latin typeface="Aptos"/>
              </a:rPr>
              <a:t>Use these prompts to rehearse before the interview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2468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B6C7F"/>
                </a:solidFill>
                <a:latin typeface="Aptos"/>
              </a:rPr>
              <a:t>AI SECURITY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09944"/>
            <a:ext cx="502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1A5AA9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12080" cy="859536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627632"/>
            <a:ext cx="4681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1B32"/>
                </a:solidFill>
                <a:latin typeface="Aptos"/>
              </a:rPr>
              <a:t>Why is a system prompt not an authorization boundary?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17320"/>
            <a:ext cx="5212080" cy="859536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627632"/>
            <a:ext cx="4681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1B32"/>
                </a:solidFill>
                <a:latin typeface="Aptos"/>
              </a:rPr>
              <a:t>How does prompt injection differ from SQL injection?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15768"/>
            <a:ext cx="5212080" cy="859536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926079"/>
            <a:ext cx="4681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1B32"/>
                </a:solidFill>
                <a:latin typeface="Aptos"/>
              </a:rPr>
              <a:t>What makes an MCP tool call risky, and how would you secure it?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715768"/>
            <a:ext cx="5212080" cy="859536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926079"/>
            <a:ext cx="4681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1B32"/>
                </a:solidFill>
                <a:latin typeface="Aptos"/>
              </a:rPr>
              <a:t>What are the limits of regex-based prompt filtering?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014215"/>
            <a:ext cx="5212080" cy="859536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224528"/>
            <a:ext cx="4681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1B32"/>
                </a:solidFill>
                <a:latin typeface="Aptos"/>
              </a:rPr>
              <a:t>How do you turn a red-team observation into a defensible finding?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014215"/>
            <a:ext cx="5212080" cy="859536"/>
          </a:xfrm>
          <a:prstGeom prst="roundRect">
            <a:avLst/>
          </a:prstGeom>
          <a:solidFill>
            <a:srgbClr val="F2F7FB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4224528"/>
            <a:ext cx="468172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1B32"/>
                </a:solidFill>
                <a:latin typeface="Aptos"/>
              </a:rPr>
              <a:t>Why should a scanner alert not receive a CVSS score immediately?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7863840" y="2057400"/>
            <a:ext cx="4937760" cy="4937760"/>
          </a:xfrm>
          <a:prstGeom prst="arc">
            <a:avLst/>
          </a:prstGeom>
          <a:solidFill>
            <a:srgbClr val="1A5AA9"/>
          </a:solidFill>
          <a:ln>
            <a:solidFill>
              <a:srgbClr val="1A5A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5852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2057400"/>
            <a:ext cx="6400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EE1F2"/>
                </a:solidFill>
                <a:latin typeface="Aptos"/>
              </a:rPr>
              <a:t>Security is not a prompt—it is a system of</a:t>
            </a:r>
            <a:br/>
            <a:r>
              <a:t>trust boundaries, controls, evidence, and review.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3840480"/>
            <a:ext cx="5669280" cy="914400"/>
          </a:xfrm>
          <a:prstGeom prst="roundRect">
            <a:avLst/>
          </a:prstGeom>
          <a:solidFill>
            <a:srgbClr val="153151"/>
          </a:solidFill>
          <a:ln>
            <a:solidFill>
              <a:srgbClr val="153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4151376"/>
            <a:ext cx="52120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172200"/>
            <a:ext cx="4846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5C2DC"/>
                </a:solidFill>
                <a:latin typeface="Aptos"/>
              </a:rPr>
              <a:t>AI Security Capstone | Local, authorized, evidence-driven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Security Capstone — Interview Presentation</dc:title>
  <dc:subject>Interview presentation covering Projects 1–6</dc:subject>
  <dc:creator>AI Security Capstone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